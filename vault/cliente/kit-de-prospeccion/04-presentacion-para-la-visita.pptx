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731520" y="1280160"/>
            <a:ext cx="868716" cy="822960"/>
          </a:xfrm>
          <a:prstGeom prst="rect">
            <a:avLst/>
          </a:prstGeom>
        </p:spPr>
      </p:pic>
      <p:pic>
        <p:nvPicPr>
          <p:cNvPr id="7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58" y="1280160"/>
            <a:ext cx="1695134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514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97899"/>
                </a:solidFill>
                <a:latin typeface="Source Sans 3"/>
              </a:rPr>
              <a:t>PARA LAVANDERÍAS DE DURANGO, TORREÓN Y MATAMOROS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171C21"/>
                </a:solidFill>
                <a:latin typeface="Nunito"/>
              </a:rPr>
              <a:t>Lavanderías fundadoras de Lavandi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3B424A"/>
                </a:solidFill>
                <a:latin typeface="Source Sans 3"/>
              </a:rPr>
              <a:t>Usted lava como sabe. Lavandi le acerca los pedidos.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Lavandi no lava: lavan sus socios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3B424A"/>
                </a:solidFill>
                <a:latin typeface="Source Sans 3"/>
              </a:rPr>
              <a:t>Lavandi es una aplicación para pedir lavandería a domicilio. Quien pide ve qué lavandería atiende su ropa y en qué va su pedido, en cinco pasos que siempre se llaman igual.</a:t>
            </a:r>
          </a:p>
        </p:txBody>
      </p:sp>
      <p:sp>
        <p:nvSpPr>
          <p:cNvPr id="9" name="Estado Confirmado"/>
          <p:cNvSpPr/>
          <p:nvPr/>
        </p:nvSpPr>
        <p:spPr>
          <a:xfrm>
            <a:off x="731520" y="3474720"/>
            <a:ext cx="2148840" cy="73152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úmero 1"/>
          <p:cNvSpPr/>
          <p:nvPr/>
        </p:nvSpPr>
        <p:spPr>
          <a:xfrm>
            <a:off x="859536" y="3584448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7472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97899"/>
                </a:solidFill>
                <a:latin typeface="Nunito"/>
              </a:rPr>
              <a:t>Confirmado</a:t>
            </a:r>
          </a:p>
        </p:txBody>
      </p:sp>
      <p:sp>
        <p:nvSpPr>
          <p:cNvPr id="12" name="Estado Recolectado"/>
          <p:cNvSpPr/>
          <p:nvPr/>
        </p:nvSpPr>
        <p:spPr>
          <a:xfrm>
            <a:off x="3017520" y="3474720"/>
            <a:ext cx="2290572" cy="73152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úmero 2"/>
          <p:cNvSpPr/>
          <p:nvPr/>
        </p:nvSpPr>
        <p:spPr>
          <a:xfrm>
            <a:off x="3145536" y="3584448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74720"/>
            <a:ext cx="151333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97899"/>
                </a:solidFill>
                <a:latin typeface="Nunito"/>
              </a:rPr>
              <a:t>Recolectado</a:t>
            </a:r>
          </a:p>
        </p:txBody>
      </p:sp>
      <p:sp>
        <p:nvSpPr>
          <p:cNvPr id="15" name="Estado En proceso"/>
          <p:cNvSpPr/>
          <p:nvPr/>
        </p:nvSpPr>
        <p:spPr>
          <a:xfrm>
            <a:off x="5445252" y="3474720"/>
            <a:ext cx="2148840" cy="73152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úmero 3"/>
          <p:cNvSpPr/>
          <p:nvPr/>
        </p:nvSpPr>
        <p:spPr>
          <a:xfrm>
            <a:off x="5573268" y="3584448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772" y="347472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97899"/>
                </a:solidFill>
                <a:latin typeface="Nunito"/>
              </a:rPr>
              <a:t>En proceso</a:t>
            </a:r>
          </a:p>
        </p:txBody>
      </p:sp>
      <p:sp>
        <p:nvSpPr>
          <p:cNvPr id="18" name="Estado Listo"/>
          <p:cNvSpPr/>
          <p:nvPr/>
        </p:nvSpPr>
        <p:spPr>
          <a:xfrm>
            <a:off x="7731252" y="3474720"/>
            <a:ext cx="1440180" cy="73152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úmero 4"/>
          <p:cNvSpPr/>
          <p:nvPr/>
        </p:nvSpPr>
        <p:spPr>
          <a:xfrm>
            <a:off x="7859268" y="3584448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2772" y="3474720"/>
            <a:ext cx="6629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97899"/>
                </a:solidFill>
                <a:latin typeface="Nunito"/>
              </a:rPr>
              <a:t>Listo</a:t>
            </a:r>
          </a:p>
        </p:txBody>
      </p:sp>
      <p:sp>
        <p:nvSpPr>
          <p:cNvPr id="21" name="Estado Entregado"/>
          <p:cNvSpPr/>
          <p:nvPr/>
        </p:nvSpPr>
        <p:spPr>
          <a:xfrm>
            <a:off x="9308592" y="3474720"/>
            <a:ext cx="2007108" cy="73152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úmero 5"/>
          <p:cNvSpPr/>
          <p:nvPr/>
        </p:nvSpPr>
        <p:spPr>
          <a:xfrm>
            <a:off x="9436608" y="3584448"/>
            <a:ext cx="512064" cy="512064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00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3474720"/>
            <a:ext cx="12298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97899"/>
                </a:solidFill>
                <a:latin typeface="Nunito"/>
              </a:rPr>
              <a:t>Entregado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Cómo llega un pedido a su lavandería</a:t>
            </a:r>
          </a:p>
        </p:txBody>
      </p:sp>
      <p:sp>
        <p:nvSpPr>
          <p:cNvPr id="8" name="Tarjeta 1"/>
          <p:cNvSpPr/>
          <p:nvPr/>
        </p:nvSpPr>
        <p:spPr>
          <a:xfrm>
            <a:off x="7315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úmero 1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3B424A"/>
                </a:solidFill>
                <a:latin typeface="Source Sans 3"/>
              </a:rPr>
              <a:t>La persona pide en la aplicación y elige la hora en que pasan por su ropa.</a:t>
            </a:r>
          </a:p>
        </p:txBody>
      </p:sp>
      <p:sp>
        <p:nvSpPr>
          <p:cNvPr id="11" name="Tarjeta 2"/>
          <p:cNvSpPr/>
          <p:nvPr/>
        </p:nvSpPr>
        <p:spPr>
          <a:xfrm>
            <a:off x="34747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úmero 2"/>
          <p:cNvSpPr/>
          <p:nvPr/>
        </p:nvSpPr>
        <p:spPr>
          <a:xfrm>
            <a:off x="3749039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834640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3B424A"/>
                </a:solidFill>
                <a:latin typeface="Source Sans 3"/>
              </a:rPr>
              <a:t>Usted recibe el pedido en su celular y lo acepta.</a:t>
            </a:r>
          </a:p>
        </p:txBody>
      </p:sp>
      <p:sp>
        <p:nvSpPr>
          <p:cNvPr id="14" name="Tarjeta 3"/>
          <p:cNvSpPr/>
          <p:nvPr/>
        </p:nvSpPr>
        <p:spPr>
          <a:xfrm>
            <a:off x="62179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úmero 3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3B424A"/>
                </a:solidFill>
                <a:latin typeface="Source Sans 3"/>
              </a:rPr>
              <a:t>Lava como siempre y marca cuando está listo.</a:t>
            </a:r>
          </a:p>
        </p:txBody>
      </p:sp>
      <p:sp>
        <p:nvSpPr>
          <p:cNvPr id="17" name="Tarjeta 4"/>
          <p:cNvSpPr/>
          <p:nvPr/>
        </p:nvSpPr>
        <p:spPr>
          <a:xfrm>
            <a:off x="89611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úmero 4"/>
          <p:cNvSpPr/>
          <p:nvPr/>
        </p:nvSpPr>
        <p:spPr>
          <a:xfrm>
            <a:off x="9235440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40"/>
            <a:ext cx="2011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3B424A"/>
                </a:solidFill>
                <a:latin typeface="Source Sans 3"/>
              </a:rPr>
              <a:t>La ropa vuelve a su dueño y el pedido queda en su historial, con su monto.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Lo que gana su lavandería</a:t>
            </a:r>
          </a:p>
        </p:txBody>
      </p:sp>
      <p:sp>
        <p:nvSpPr>
          <p:cNvPr id="8" name="Tarjeta 1"/>
          <p:cNvSpPr/>
          <p:nvPr/>
        </p:nvSpPr>
        <p:spPr>
          <a:xfrm>
            <a:off x="7315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úmero 1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71C21"/>
                </a:solidFill>
                <a:latin typeface="Nunito"/>
              </a:rPr>
              <a:t>Cobra sin perseguir pagos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3B424A"/>
                </a:solidFill>
                <a:latin typeface="Source Sans 3"/>
              </a:rPr>
              <a:t>El cliente paga en la aplicación. Usted no cobra en la puerta.</a:t>
            </a:r>
          </a:p>
        </p:txBody>
      </p:sp>
      <p:sp>
        <p:nvSpPr>
          <p:cNvPr id="12" name="Tarjeta 2"/>
          <p:cNvSpPr/>
          <p:nvPr/>
        </p:nvSpPr>
        <p:spPr>
          <a:xfrm>
            <a:off x="34747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úmero 2"/>
          <p:cNvSpPr/>
          <p:nvPr/>
        </p:nvSpPr>
        <p:spPr>
          <a:xfrm>
            <a:off x="3749039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346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71C21"/>
                </a:solidFill>
                <a:latin typeface="Nunito"/>
              </a:rPr>
              <a:t>Sus pedidos en un solo 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4048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3B424A"/>
                </a:solidFill>
                <a:latin typeface="Source Sans 3"/>
              </a:rPr>
              <a:t>Acepta o rechaza, marca en qué va y ve cuánto lleva en el día y la semana.</a:t>
            </a:r>
          </a:p>
        </p:txBody>
      </p:sp>
      <p:sp>
        <p:nvSpPr>
          <p:cNvPr id="16" name="Tarjeta 3"/>
          <p:cNvSpPr/>
          <p:nvPr/>
        </p:nvSpPr>
        <p:spPr>
          <a:xfrm>
            <a:off x="62179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úmero 3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71C21"/>
                </a:solidFill>
                <a:latin typeface="Nunito"/>
              </a:rPr>
              <a:t>Usted manda en su horario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3B424A"/>
                </a:solidFill>
                <a:latin typeface="Source Sans 3"/>
              </a:rPr>
              <a:t>Decide qué días y a qué horas recibe pedidos.</a:t>
            </a:r>
          </a:p>
        </p:txBody>
      </p:sp>
      <p:sp>
        <p:nvSpPr>
          <p:cNvPr id="20" name="Tarjeta 4"/>
          <p:cNvSpPr/>
          <p:nvPr/>
        </p:nvSpPr>
        <p:spPr>
          <a:xfrm>
            <a:off x="8961120" y="1737360"/>
            <a:ext cx="2514600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úmero 4"/>
          <p:cNvSpPr/>
          <p:nvPr/>
        </p:nvSpPr>
        <p:spPr>
          <a:xfrm>
            <a:off x="9235440" y="21031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10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71C21"/>
                </a:solidFill>
                <a:latin typeface="Nunito"/>
              </a:rPr>
              <a:t>Su nombre a la vista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40480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3B424A"/>
                </a:solidFill>
                <a:latin typeface="Source Sans 3"/>
              </a:rPr>
              <a:t>Quien pide sabe qué lavandería cuida su ropa.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146304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Así se ve su parte de la aplicación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>
                <a:solidFill>
                  <a:srgbClr val="3B424A"/>
                </a:solidFill>
                <a:latin typeface="Source Sans 3"/>
              </a:rPr>
              <a:t>Un pedido nuevo llega con la hora de recolección y el servicio. Usted lo acepta o lo rechaza con un toque.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15A64"/>
                </a:solidFill>
                <a:latin typeface="Source Sans 3"/>
              </a:rPr>
              <a:t>Ejemplo para ilustrar. La aplicación final puede verse distinta.</a:t>
            </a:r>
          </a:p>
        </p:txBody>
      </p:sp>
      <p:sp>
        <p:nvSpPr>
          <p:cNvPr id="10" name="Teléfono"/>
          <p:cNvSpPr/>
          <p:nvPr/>
        </p:nvSpPr>
        <p:spPr>
          <a:xfrm>
            <a:off x="7680960" y="685800"/>
            <a:ext cx="2834640" cy="512064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17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914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97899"/>
                </a:solidFill>
                <a:latin typeface="Nunito"/>
              </a:rPr>
              <a:t>Pedidos de hoy</a:t>
            </a:r>
          </a:p>
        </p:txBody>
      </p:sp>
      <p:sp>
        <p:nvSpPr>
          <p:cNvPr id="12" name="Pedido nuevo"/>
          <p:cNvSpPr/>
          <p:nvPr/>
        </p:nvSpPr>
        <p:spPr>
          <a:xfrm>
            <a:off x="7863840" y="128016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3716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1C21"/>
                </a:solidFill>
                <a:latin typeface="Nunito"/>
              </a:rPr>
              <a:t>Pedido nuevo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3B424A"/>
                </a:solidFill>
                <a:latin typeface="Source Sans 3"/>
              </a:rPr>
              <a:t>Recolección hoy entre 11:00 y 12:00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3B424A"/>
                </a:solidFill>
                <a:latin typeface="Source Sans 3"/>
              </a:rPr>
              <a:t>Lavado y planchado · 6 kg</a:t>
            </a:r>
          </a:p>
        </p:txBody>
      </p:sp>
      <p:sp>
        <p:nvSpPr>
          <p:cNvPr id="14" name="Botón aceptar"/>
          <p:cNvSpPr/>
          <p:nvPr/>
        </p:nvSpPr>
        <p:spPr>
          <a:xfrm>
            <a:off x="8001000" y="25603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97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560320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ource Sans 3"/>
              </a:rPr>
              <a:t>Aceptar</a:t>
            </a:r>
          </a:p>
        </p:txBody>
      </p:sp>
      <p:sp>
        <p:nvSpPr>
          <p:cNvPr id="16" name="Botón rechazar"/>
          <p:cNvSpPr/>
          <p:nvPr/>
        </p:nvSpPr>
        <p:spPr>
          <a:xfrm>
            <a:off x="9144000" y="25603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1051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1C21"/>
                </a:solidFill>
                <a:latin typeface="Source Sans 3"/>
              </a:rPr>
              <a:t>Rechazar</a:t>
            </a:r>
          </a:p>
        </p:txBody>
      </p:sp>
      <p:sp>
        <p:nvSpPr>
          <p:cNvPr id="18" name="Pedido en proceso"/>
          <p:cNvSpPr/>
          <p:nvPr/>
        </p:nvSpPr>
        <p:spPr>
          <a:xfrm>
            <a:off x="7863840" y="3246120"/>
            <a:ext cx="24688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3101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1C21"/>
                </a:solidFill>
                <a:latin typeface="Nunito"/>
              </a:rPr>
              <a:t>Calle Hidalgo 210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3B424A"/>
                </a:solidFill>
                <a:latin typeface="Source Sans 3"/>
              </a:rPr>
              <a:t>En proceso</a:t>
            </a:r>
          </a:p>
        </p:txBody>
      </p:sp>
      <p:sp>
        <p:nvSpPr>
          <p:cNvPr id="20" name="Semana"/>
          <p:cNvSpPr/>
          <p:nvPr/>
        </p:nvSpPr>
        <p:spPr>
          <a:xfrm>
            <a:off x="7863840" y="41605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224528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B424A"/>
                </a:solidFill>
                <a:latin typeface="Source Sans 3"/>
              </a:rPr>
              <a:t>Esta semana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297899"/>
                </a:solidFill>
                <a:latin typeface="Nunito"/>
              </a:rPr>
              <a:t>12 pedidos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Lo que cuesta, con claridad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71C21"/>
                </a:solidFill>
                <a:latin typeface="Source Sans 3"/>
              </a:rPr>
              <a:t>Lo que se queda Lavandi de cada 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8A5A00"/>
                </a:solidFill>
                <a:latin typeface="Source Sans 3"/>
              </a:rPr>
              <a:t>[Por definir: comisión de Lavandi por pedido]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171C21"/>
                </a:solidFill>
                <a:latin typeface="Source Sans 3"/>
              </a:rPr>
              <a:t>El precio del lavado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78892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8A5A00"/>
                </a:solidFill>
                <a:latin typeface="Source Sans 3"/>
              </a:rPr>
              <a:t>[Por definir: quién pone el precio del lavado]</a:t>
            </a:r>
          </a:p>
        </p:txBody>
      </p:sp>
      <p:sp>
        <p:nvSpPr>
          <p:cNvPr id="12" name="Lo que no prometemos"/>
          <p:cNvSpPr/>
          <p:nvPr/>
        </p:nvSpPr>
        <p:spPr>
          <a:xfrm>
            <a:off x="731520" y="40233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B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10058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171C21"/>
                </a:solidFill>
                <a:latin typeface="Source Sans 3"/>
              </a:rPr>
              <a:t>No le prometemos un número de pedidos: la aplicación apenas va a empezar. Le prometemos lo que sí depende de nosotros.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Sea lavandería fundadora</a:t>
            </a:r>
          </a:p>
        </p:txBody>
      </p:sp>
      <p:sp>
        <p:nvSpPr>
          <p:cNvPr id="8" name="Número 1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3B424A"/>
                </a:solidFill>
                <a:latin typeface="Source Sans 3"/>
              </a:rPr>
              <a:t>Firme la carta de interés. No lo obliga a nada.</a:t>
            </a:r>
          </a:p>
        </p:txBody>
      </p:sp>
      <p:sp>
        <p:nvSpPr>
          <p:cNvPr id="10" name="Número 2"/>
          <p:cNvSpPr/>
          <p:nvPr/>
        </p:nvSpPr>
        <p:spPr>
          <a:xfrm>
            <a:off x="731520" y="301752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3B424A"/>
                </a:solidFill>
                <a:latin typeface="Source Sans 3"/>
              </a:rPr>
              <a:t>Le avisamos cuando la aplicación esté por abrir en su ciudad.</a:t>
            </a:r>
          </a:p>
        </p:txBody>
      </p:sp>
      <p:sp>
        <p:nvSpPr>
          <p:cNvPr id="12" name="Número 3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11480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3B424A"/>
                </a:solidFill>
                <a:latin typeface="Source Sans 3"/>
              </a:rPr>
              <a:t>Damos de alta su lavandería, con sus servicios y su horario.</a:t>
            </a:r>
          </a:p>
        </p:txBody>
      </p:sp>
      <p:sp>
        <p:nvSpPr>
          <p:cNvPr id="14" name="Fundadoras y contacto"/>
          <p:cNvSpPr/>
          <p:nvPr/>
        </p:nvSpPr>
        <p:spPr>
          <a:xfrm>
            <a:off x="6400800" y="173736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011680"/>
            <a:ext cx="4480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71C21"/>
                </a:solidFill>
                <a:latin typeface="Nunito"/>
              </a:rPr>
              <a:t>Lo que reciben las fundadoras</a:t>
            </a:r>
          </a:p>
          <a:p>
            <a:pPr algn="l">
              <a:spcBef>
                <a:spcPts val="800"/>
              </a:spcBef>
            </a:pPr>
            <a:r>
              <a:rPr sz="1900" b="1">
                <a:solidFill>
                  <a:srgbClr val="8A5A00"/>
                </a:solidFill>
                <a:latin typeface="Source Sans 3"/>
              </a:rPr>
              <a:t>[Por definir: lo que se ofrece a las fundadoras]</a:t>
            </a:r>
          </a:p>
          <a:p>
            <a:pPr algn="l">
              <a:spcBef>
                <a:spcPts val="800"/>
              </a:spcBef>
            </a:pPr>
            <a:r>
              <a:rPr sz="2200" b="1">
                <a:solidFill>
                  <a:srgbClr val="171C21"/>
                </a:solidFill>
                <a:latin typeface="Nunito"/>
              </a:rPr>
              <a:t>Hable con</a:t>
            </a:r>
          </a:p>
          <a:p>
            <a:pPr algn="l">
              <a:spcBef>
                <a:spcPts val="800"/>
              </a:spcBef>
            </a:pPr>
            <a:r>
              <a:rPr sz="1900" b="1">
                <a:solidFill>
                  <a:srgbClr val="8A5A00"/>
                </a:solidFill>
                <a:latin typeface="Source Sans 3"/>
              </a:rPr>
              <a:t>[Por definir: nombre y WhatsApp de quien atiende]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Para negocios con varias sucursales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97899"/>
                </a:solidFill>
                <a:latin typeface="Source Sans 3"/>
              </a:rPr>
              <a:t>LÁMINA OPCIONAL · PARA CADENAS</a:t>
            </a:r>
          </a:p>
        </p:txBody>
      </p:sp>
      <p:sp>
        <p:nvSpPr>
          <p:cNvPr id="9" name="Número 1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3736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3B424A"/>
                </a:solidFill>
                <a:latin typeface="Source Sans 3"/>
              </a:rPr>
              <a:t>Empezamos con una sucursal, la que usted elija.</a:t>
            </a:r>
          </a:p>
        </p:txBody>
      </p:sp>
      <p:sp>
        <p:nvSpPr>
          <p:cNvPr id="11" name="Número 2"/>
          <p:cNvSpPr/>
          <p:nvPr/>
        </p:nvSpPr>
        <p:spPr>
          <a:xfrm>
            <a:off x="731520" y="301752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3B424A"/>
                </a:solidFill>
                <a:latin typeface="Source Sans 3"/>
              </a:rPr>
              <a:t>Cada sucursal aparece con su nombre y su zona.</a:t>
            </a:r>
          </a:p>
        </p:txBody>
      </p:sp>
      <p:sp>
        <p:nvSpPr>
          <p:cNvPr id="13" name="Número 3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11480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3B424A"/>
                </a:solidFill>
                <a:latin typeface="Source Sans 3"/>
              </a:rPr>
              <a:t>Usted decide si suma las demás, y cuándo.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nja de marca"/>
          <p:cNvSpPr/>
          <p:nvPr/>
        </p:nvSpPr>
        <p:spPr>
          <a:xfrm>
            <a:off x="0" y="0"/>
            <a:ext cx="7558851" cy="10058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nja de marca"/>
          <p:cNvSpPr/>
          <p:nvPr/>
        </p:nvSpPr>
        <p:spPr>
          <a:xfrm>
            <a:off x="7558851" y="0"/>
            <a:ext cx="3657508" cy="100584"/>
          </a:xfrm>
          <a:prstGeom prst="rect">
            <a:avLst/>
          </a:prstGeom>
          <a:solidFill>
            <a:srgbClr val="A8D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nja de marca"/>
          <p:cNvSpPr/>
          <p:nvPr/>
        </p:nvSpPr>
        <p:spPr>
          <a:xfrm>
            <a:off x="11216359" y="0"/>
            <a:ext cx="975335" cy="100584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ímbolo Lavandi" descr="lavandi-simbolo-300dpi.png"/>
          <p:cNvPicPr>
            <a:picLocks noChangeAspect="1"/>
          </p:cNvPicPr>
          <p:nvPr/>
        </p:nvPicPr>
        <p:blipFill>
          <a:blip r:embed="rId2"/>
          <a:srcRect l="6861" r="3505" t="3167" b="11312"/>
          <a:stretch>
            <a:fillRect/>
          </a:stretch>
        </p:blipFill>
        <p:spPr>
          <a:xfrm>
            <a:off x="10149840" y="6217920"/>
            <a:ext cx="318529" cy="301752"/>
          </a:xfrm>
          <a:prstGeom prst="rect">
            <a:avLst/>
          </a:prstGeom>
        </p:spPr>
      </p:pic>
      <p:pic>
        <p:nvPicPr>
          <p:cNvPr id="6" name="Logotipo Lavandi" descr="lavandi-logotipo-300d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20" y="6217920"/>
            <a:ext cx="621549" cy="301752"/>
          </a:xfrm>
          <a:prstGeom prst="rect">
            <a:avLst/>
          </a:prstGeom>
        </p:spPr>
      </p:pic>
      <p:sp>
        <p:nvSpPr>
          <p:cNvPr id="7" name="Título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71C21"/>
                </a:solidFill>
                <a:latin typeface="Nunito"/>
              </a:rPr>
              <a:t>Para tintorerías y planchadurías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97899"/>
                </a:solidFill>
                <a:latin typeface="Source Sans 3"/>
              </a:rPr>
              <a:t>LÁMINA OPCIONAL · PARA TINTORERÍAS Y PLANCHADURÍAS</a:t>
            </a:r>
          </a:p>
        </p:txBody>
      </p:sp>
      <p:sp>
        <p:nvSpPr>
          <p:cNvPr id="9" name="Número 1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3736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3B424A"/>
                </a:solidFill>
                <a:latin typeface="Source Sans 3"/>
              </a:rPr>
              <a:t>Sus servicios aparecen por su nombre: lavado en seco, planchado.</a:t>
            </a:r>
          </a:p>
        </p:txBody>
      </p:sp>
      <p:sp>
        <p:nvSpPr>
          <p:cNvPr id="11" name="Número 2"/>
          <p:cNvSpPr/>
          <p:nvPr/>
        </p:nvSpPr>
        <p:spPr>
          <a:xfrm>
            <a:off x="731520" y="301752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3B424A"/>
                </a:solidFill>
                <a:latin typeface="Source Sans 3"/>
              </a:rPr>
              <a:t>Quien pide sabe qué tintorería cuida su ropa.</a:t>
            </a:r>
          </a:p>
        </p:txBody>
      </p:sp>
      <p:sp>
        <p:nvSpPr>
          <p:cNvPr id="13" name="Número 3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11480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71C21"/>
                </a:solidFill>
                <a:latin typeface="Source Sans 3"/>
              </a:rPr>
              <a:t>El precio de sus servicios: </a:t>
            </a:r>
            <a:r>
              <a:rPr sz="2200" b="1">
                <a:solidFill>
                  <a:srgbClr val="8A5A00"/>
                </a:solidFill>
                <a:latin typeface="Source Sans 3"/>
              </a:rPr>
              <a:t>[Por definir: quién pone el precio del lavado]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para la visita a lavanderías</dc:title>
  <dc:subject/>
  <dc:creator>Lavandi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